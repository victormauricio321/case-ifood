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Próxima campanha: quem contatar para dar lucro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Segmentação de clientes e modelo de propensão · Case de Analista de Dados iFood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Victor Maurício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3F3F46"/>
                </a:solidFill>
              </a:rPr>
              <a:t>O piloto deu prejuízo porque ligou para todos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71717A"/>
                </a:solidFill>
              </a:rPr>
              <a:t>Campanha piloto: 2.240 clientes contatados por telefone, escolhidos ao acaso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1717A"/>
                </a:solidFill>
              </a:rPr>
              <a:t>Case iFood · Victor Maurício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035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2200" b="1" dirty="0" err="1">
                <a:solidFill>
                  <a:srgbClr val="3F3F46"/>
                </a:solidFill>
              </a:rPr>
              <a:t>Custo</a:t>
            </a:r>
            <a:r>
              <a:rPr sz="2200" b="1" dirty="0">
                <a:solidFill>
                  <a:srgbClr val="3F3F46"/>
                </a:solidFill>
              </a:rPr>
              <a:t>: </a:t>
            </a:r>
            <a:r>
              <a:rPr sz="2200" b="0" dirty="0">
                <a:solidFill>
                  <a:srgbClr val="3F3F46"/>
                </a:solidFill>
              </a:rPr>
              <a:t>3 MU por </a:t>
            </a:r>
            <a:r>
              <a:rPr sz="2200" b="0" dirty="0" err="1">
                <a:solidFill>
                  <a:srgbClr val="3F3F46"/>
                </a:solidFill>
              </a:rPr>
              <a:t>ligação</a:t>
            </a:r>
            <a:r>
              <a:rPr sz="2200" b="0" dirty="0">
                <a:solidFill>
                  <a:srgbClr val="3F3F46"/>
                </a:solidFill>
              </a:rPr>
              <a:t> → 6.720 MU</a:t>
            </a:r>
          </a:p>
          <a:p>
            <a:pPr algn="just">
              <a:spcAft>
                <a:spcPts val="800"/>
              </a:spcAft>
            </a:pPr>
            <a:r>
              <a:rPr sz="2200" b="1" dirty="0" err="1">
                <a:solidFill>
                  <a:srgbClr val="3F3F46"/>
                </a:solidFill>
              </a:rPr>
              <a:t>Receita</a:t>
            </a:r>
            <a:r>
              <a:rPr sz="2200" b="1" dirty="0">
                <a:solidFill>
                  <a:srgbClr val="3F3F46"/>
                </a:solidFill>
              </a:rPr>
              <a:t>: </a:t>
            </a:r>
            <a:r>
              <a:rPr sz="2200" b="0" dirty="0">
                <a:solidFill>
                  <a:srgbClr val="3F3F46"/>
                </a:solidFill>
              </a:rPr>
              <a:t>11 MU por </a:t>
            </a:r>
            <a:r>
              <a:rPr sz="2200" b="0" dirty="0" err="1">
                <a:solidFill>
                  <a:srgbClr val="3F3F46"/>
                </a:solidFill>
              </a:rPr>
              <a:t>cliente</a:t>
            </a:r>
            <a:r>
              <a:rPr sz="2200" b="0" dirty="0">
                <a:solidFill>
                  <a:srgbClr val="3F3F46"/>
                </a:solidFill>
              </a:rPr>
              <a:t> que </a:t>
            </a:r>
            <a:r>
              <a:rPr sz="2200" b="0" dirty="0" err="1">
                <a:solidFill>
                  <a:srgbClr val="3F3F46"/>
                </a:solidFill>
              </a:rPr>
              <a:t>aceita</a:t>
            </a:r>
            <a:r>
              <a:rPr lang="pt-BR" sz="2200" b="0" dirty="0">
                <a:solidFill>
                  <a:srgbClr val="3F3F46"/>
                </a:solidFill>
              </a:rPr>
              <a:t> →</a:t>
            </a:r>
            <a:r>
              <a:rPr sz="2200" b="0" dirty="0">
                <a:solidFill>
                  <a:srgbClr val="3F3F46"/>
                </a:solidFill>
              </a:rPr>
              <a:t> 3.674 MU</a:t>
            </a:r>
          </a:p>
          <a:p>
            <a:pPr algn="just">
              <a:spcAft>
                <a:spcPts val="800"/>
              </a:spcAft>
            </a:pPr>
            <a:r>
              <a:rPr sz="2200" b="1" dirty="0" err="1">
                <a:solidFill>
                  <a:srgbClr val="3F3F46"/>
                </a:solidFill>
              </a:rPr>
              <a:t>Aceite</a:t>
            </a:r>
            <a:r>
              <a:rPr sz="2200" b="1" dirty="0">
                <a:solidFill>
                  <a:srgbClr val="3F3F46"/>
                </a:solidFill>
              </a:rPr>
              <a:t>: </a:t>
            </a:r>
            <a:r>
              <a:rPr sz="2200" b="0" dirty="0">
                <a:solidFill>
                  <a:srgbClr val="3F3F46"/>
                </a:solidFill>
              </a:rPr>
              <a:t>15% dos </a:t>
            </a:r>
            <a:r>
              <a:rPr sz="2200" b="0" dirty="0" err="1">
                <a:solidFill>
                  <a:srgbClr val="3F3F46"/>
                </a:solidFill>
              </a:rPr>
              <a:t>clientes</a:t>
            </a:r>
            <a:endParaRPr sz="2200" b="0" dirty="0">
              <a:solidFill>
                <a:srgbClr val="3F3F46"/>
              </a:solidFill>
            </a:endParaRPr>
          </a:p>
          <a:p>
            <a:pPr algn="just">
              <a:spcAft>
                <a:spcPts val="800"/>
              </a:spcAft>
            </a:pPr>
            <a:r>
              <a:rPr sz="2200" b="1" dirty="0" err="1">
                <a:solidFill>
                  <a:srgbClr val="3F3F46"/>
                </a:solidFill>
              </a:rPr>
              <a:t>Resultado</a:t>
            </a:r>
            <a:r>
              <a:rPr sz="2200" b="1" dirty="0">
                <a:solidFill>
                  <a:srgbClr val="3F3F46"/>
                </a:solidFill>
              </a:rPr>
              <a:t>: </a:t>
            </a:r>
            <a:r>
              <a:rPr sz="2200" b="0" dirty="0" err="1">
                <a:solidFill>
                  <a:srgbClr val="3F3F46"/>
                </a:solidFill>
              </a:rPr>
              <a:t>prejuízo</a:t>
            </a:r>
            <a:r>
              <a:rPr sz="2200" b="0" dirty="0">
                <a:solidFill>
                  <a:srgbClr val="3F3F46"/>
                </a:solidFill>
              </a:rPr>
              <a:t> de 3.046 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12064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pt-BR" sz="2000" b="1" dirty="0">
                <a:solidFill>
                  <a:srgbClr val="3F3F46"/>
                </a:solidFill>
              </a:rPr>
              <a:t>O </a:t>
            </a:r>
            <a:r>
              <a:rPr sz="2000" b="1" dirty="0">
                <a:solidFill>
                  <a:srgbClr val="3F3F46"/>
                </a:solidFill>
              </a:rPr>
              <a:t>que </a:t>
            </a:r>
            <a:r>
              <a:rPr sz="2000" b="1" dirty="0" err="1">
                <a:solidFill>
                  <a:srgbClr val="3F3F46"/>
                </a:solidFill>
              </a:rPr>
              <a:t>importa</a:t>
            </a:r>
            <a:r>
              <a:rPr lang="pt-BR" sz="2000" b="1" dirty="0">
                <a:solidFill>
                  <a:srgbClr val="3F3F46"/>
                </a:solidFill>
              </a:rPr>
              <a:t>:</a:t>
            </a:r>
            <a:endParaRPr sz="2000" b="1" dirty="0">
              <a:solidFill>
                <a:srgbClr val="3F3F46"/>
              </a:solidFill>
            </a:endParaRPr>
          </a:p>
          <a:p>
            <a:pPr algn="just">
              <a:spcAft>
                <a:spcPts val="800"/>
              </a:spcAft>
            </a:pPr>
            <a:r>
              <a:rPr sz="2000" b="0" dirty="0">
                <a:solidFill>
                  <a:srgbClr val="3F3F46"/>
                </a:solidFill>
              </a:rPr>
              <a:t>Uma </a:t>
            </a:r>
            <a:r>
              <a:rPr sz="2000" b="0" dirty="0" err="1">
                <a:solidFill>
                  <a:srgbClr val="3F3F46"/>
                </a:solidFill>
              </a:rPr>
              <a:t>ligação</a:t>
            </a:r>
            <a:r>
              <a:rPr sz="2000" b="0" dirty="0">
                <a:solidFill>
                  <a:srgbClr val="3F3F46"/>
                </a:solidFill>
              </a:rPr>
              <a:t> </a:t>
            </a:r>
            <a:r>
              <a:rPr sz="2000" b="0" dirty="0" err="1">
                <a:solidFill>
                  <a:srgbClr val="3F3F46"/>
                </a:solidFill>
              </a:rPr>
              <a:t>só</a:t>
            </a:r>
            <a:r>
              <a:rPr sz="2000" b="0" dirty="0">
                <a:solidFill>
                  <a:srgbClr val="3F3F46"/>
                </a:solidFill>
              </a:rPr>
              <a:t> se </a:t>
            </a:r>
            <a:r>
              <a:rPr sz="2000" b="0" dirty="0" err="1">
                <a:solidFill>
                  <a:srgbClr val="3F3F46"/>
                </a:solidFill>
              </a:rPr>
              <a:t>paga</a:t>
            </a:r>
            <a:r>
              <a:rPr sz="2000" b="0" dirty="0">
                <a:solidFill>
                  <a:srgbClr val="3F3F46"/>
                </a:solidFill>
              </a:rPr>
              <a:t> se a chance de o </a:t>
            </a:r>
            <a:r>
              <a:rPr sz="2000" b="0" dirty="0" err="1">
                <a:solidFill>
                  <a:srgbClr val="3F3F46"/>
                </a:solidFill>
              </a:rPr>
              <a:t>cliente</a:t>
            </a:r>
            <a:r>
              <a:rPr sz="2000" b="0" dirty="0">
                <a:solidFill>
                  <a:srgbClr val="3F3F46"/>
                </a:solidFill>
              </a:rPr>
              <a:t> </a:t>
            </a:r>
            <a:r>
              <a:rPr sz="2000" b="0" dirty="0" err="1">
                <a:solidFill>
                  <a:srgbClr val="3F3F46"/>
                </a:solidFill>
              </a:rPr>
              <a:t>aceitar</a:t>
            </a:r>
            <a:r>
              <a:rPr sz="2000" b="0" dirty="0">
                <a:solidFill>
                  <a:srgbClr val="3F3F46"/>
                </a:solidFill>
              </a:rPr>
              <a:t> for </a:t>
            </a:r>
            <a:r>
              <a:rPr sz="2000" b="0" dirty="0" err="1">
                <a:solidFill>
                  <a:srgbClr val="3F3F46"/>
                </a:solidFill>
              </a:rPr>
              <a:t>maior</a:t>
            </a:r>
            <a:r>
              <a:rPr sz="2000" b="0" dirty="0">
                <a:solidFill>
                  <a:srgbClr val="3F3F46"/>
                </a:solidFill>
              </a:rPr>
              <a:t> que 3 ÷ 11 ≈ 27%.</a:t>
            </a:r>
          </a:p>
          <a:p>
            <a:pPr algn="just">
              <a:spcAft>
                <a:spcPts val="800"/>
              </a:spcAft>
            </a:pPr>
            <a:r>
              <a:rPr sz="2000" b="0" dirty="0">
                <a:solidFill>
                  <a:srgbClr val="3F3F46"/>
                </a:solidFill>
              </a:rPr>
              <a:t>Com 15% de </a:t>
            </a:r>
            <a:r>
              <a:rPr sz="2000" b="0" dirty="0" err="1">
                <a:solidFill>
                  <a:srgbClr val="3F3F46"/>
                </a:solidFill>
              </a:rPr>
              <a:t>aceite</a:t>
            </a:r>
            <a:r>
              <a:rPr sz="2000" b="0" dirty="0">
                <a:solidFill>
                  <a:srgbClr val="3F3F46"/>
                </a:solidFill>
              </a:rPr>
              <a:t> </a:t>
            </a:r>
            <a:r>
              <a:rPr sz="2000" b="0" dirty="0" err="1">
                <a:solidFill>
                  <a:srgbClr val="3F3F46"/>
                </a:solidFill>
              </a:rPr>
              <a:t>médio</a:t>
            </a:r>
            <a:r>
              <a:rPr sz="2000" b="0" dirty="0">
                <a:solidFill>
                  <a:srgbClr val="3F3F46"/>
                </a:solidFill>
              </a:rPr>
              <a:t>, </a:t>
            </a:r>
            <a:r>
              <a:rPr sz="2000" b="0" dirty="0" err="1">
                <a:solidFill>
                  <a:srgbClr val="3F3F46"/>
                </a:solidFill>
              </a:rPr>
              <a:t>ligar</a:t>
            </a:r>
            <a:r>
              <a:rPr sz="2000" b="0" dirty="0">
                <a:solidFill>
                  <a:srgbClr val="3F3F46"/>
                </a:solidFill>
              </a:rPr>
              <a:t> para </a:t>
            </a:r>
            <a:r>
              <a:rPr sz="2000" b="0" dirty="0" err="1">
                <a:solidFill>
                  <a:srgbClr val="3F3F46"/>
                </a:solidFill>
              </a:rPr>
              <a:t>todos</a:t>
            </a:r>
            <a:r>
              <a:rPr sz="2000" b="0" dirty="0">
                <a:solidFill>
                  <a:srgbClr val="3F3F46"/>
                </a:solidFill>
              </a:rPr>
              <a:t> sempre </a:t>
            </a:r>
            <a:r>
              <a:rPr sz="2000" b="0" dirty="0" err="1">
                <a:solidFill>
                  <a:srgbClr val="3F3F46"/>
                </a:solidFill>
              </a:rPr>
              <a:t>dá</a:t>
            </a:r>
            <a:r>
              <a:rPr sz="2000" b="0" dirty="0">
                <a:solidFill>
                  <a:srgbClr val="3F3F46"/>
                </a:solidFill>
              </a:rPr>
              <a:t> </a:t>
            </a:r>
            <a:r>
              <a:rPr sz="2000" b="0" dirty="0" err="1">
                <a:solidFill>
                  <a:srgbClr val="3F3F46"/>
                </a:solidFill>
              </a:rPr>
              <a:t>prejuízo</a:t>
            </a:r>
            <a:r>
              <a:rPr sz="2000" b="0" dirty="0">
                <a:solidFill>
                  <a:srgbClr val="3F3F46"/>
                </a:solidFill>
              </a:rPr>
              <a:t>. A </a:t>
            </a:r>
            <a:r>
              <a:rPr sz="2000" b="0" dirty="0" err="1">
                <a:solidFill>
                  <a:srgbClr val="3F3F46"/>
                </a:solidFill>
              </a:rPr>
              <a:t>solução</a:t>
            </a:r>
            <a:r>
              <a:rPr sz="2000" b="0" dirty="0">
                <a:solidFill>
                  <a:srgbClr val="3F3F46"/>
                </a:solidFill>
              </a:rPr>
              <a:t> é </a:t>
            </a:r>
            <a:r>
              <a:rPr sz="2000" b="0" dirty="0" err="1">
                <a:solidFill>
                  <a:srgbClr val="3F3F46"/>
                </a:solidFill>
              </a:rPr>
              <a:t>escolher</a:t>
            </a:r>
            <a:r>
              <a:rPr sz="2000" b="0" dirty="0">
                <a:solidFill>
                  <a:srgbClr val="3F3F46"/>
                </a:solidFill>
              </a:rPr>
              <a:t> para </a:t>
            </a:r>
            <a:r>
              <a:rPr sz="2000" b="0" dirty="0" err="1">
                <a:solidFill>
                  <a:srgbClr val="3F3F46"/>
                </a:solidFill>
              </a:rPr>
              <a:t>quem</a:t>
            </a:r>
            <a:r>
              <a:rPr sz="2000" b="0" dirty="0">
                <a:solidFill>
                  <a:srgbClr val="3F3F46"/>
                </a:solidFill>
              </a:rPr>
              <a:t> </a:t>
            </a:r>
            <a:r>
              <a:rPr sz="2000" b="0" dirty="0" err="1">
                <a:solidFill>
                  <a:srgbClr val="3F3F46"/>
                </a:solidFill>
              </a:rPr>
              <a:t>ligar</a:t>
            </a:r>
            <a:r>
              <a:rPr sz="2000" b="0" dirty="0">
                <a:solidFill>
                  <a:srgbClr val="3F3F46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71717A"/>
                </a:solidFill>
              </a:rPr>
              <a:t>MU</a:t>
            </a:r>
            <a:r>
              <a:rPr sz="1400" b="0" i="0">
                <a:solidFill>
                  <a:srgbClr val="71717A"/>
                </a:solidFill>
              </a:rPr>
              <a:t> (</a:t>
            </a:r>
            <a:r>
              <a:rPr sz="1400" b="0" i="1">
                <a:solidFill>
                  <a:srgbClr val="71717A"/>
                </a:solidFill>
              </a:rPr>
              <a:t>monetary units</a:t>
            </a:r>
            <a:r>
              <a:rPr sz="1400" b="0" i="0">
                <a:solidFill>
                  <a:srgbClr val="71717A"/>
                </a:solidFill>
              </a:rPr>
              <a:t>, ou unidades monetárias) é a moeda genérica usada no enunciado do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3F3F46"/>
                </a:solidFill>
              </a:rPr>
              <a:t>Quem aceita a oferta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71717A"/>
                </a:solidFill>
              </a:rPr>
              <a:t>Taxa de aceite da campanha piloto por perfil de cliente (linha vermelha = média de 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1717A"/>
                </a:solidFill>
              </a:rPr>
              <a:t>Case iFood · Victor Maurício</a:t>
            </a:r>
          </a:p>
        </p:txBody>
      </p:sp>
      <p:pic>
        <p:nvPicPr>
          <p:cNvPr id="6" name="Picture 5" descr="taxa_aceite_por_per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948688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737360"/>
            <a:ext cx="32918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500" b="1" dirty="0" err="1">
                <a:solidFill>
                  <a:srgbClr val="3F3F46"/>
                </a:solidFill>
              </a:rPr>
              <a:t>Histórico</a:t>
            </a:r>
            <a:r>
              <a:rPr sz="1500" b="1" dirty="0">
                <a:solidFill>
                  <a:srgbClr val="3F3F46"/>
                </a:solidFill>
              </a:rPr>
              <a:t> </a:t>
            </a:r>
            <a:r>
              <a:rPr sz="1500" b="1" dirty="0" err="1">
                <a:solidFill>
                  <a:srgbClr val="3F3F46"/>
                </a:solidFill>
              </a:rPr>
              <a:t>pesa</a:t>
            </a:r>
            <a:r>
              <a:rPr sz="1500" b="1" dirty="0">
                <a:solidFill>
                  <a:srgbClr val="3F3F46"/>
                </a:solidFill>
              </a:rPr>
              <a:t> </a:t>
            </a:r>
            <a:r>
              <a:rPr sz="1500" b="1" dirty="0" err="1">
                <a:solidFill>
                  <a:srgbClr val="3F3F46"/>
                </a:solidFill>
              </a:rPr>
              <a:t>mais</a:t>
            </a:r>
            <a:r>
              <a:rPr lang="pt-BR" sz="1500" b="1" dirty="0">
                <a:solidFill>
                  <a:srgbClr val="3F3F46"/>
                </a:solidFill>
              </a:rPr>
              <a:t> (recorrência)</a:t>
            </a:r>
            <a:r>
              <a:rPr sz="1500" b="1" dirty="0">
                <a:solidFill>
                  <a:srgbClr val="3F3F46"/>
                </a:solidFill>
              </a:rPr>
              <a:t>: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quem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já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aceitou</a:t>
            </a:r>
            <a:r>
              <a:rPr sz="1500" b="0" dirty="0">
                <a:solidFill>
                  <a:srgbClr val="3F3F46"/>
                </a:solidFill>
              </a:rPr>
              <a:t> 2 </a:t>
            </a:r>
            <a:r>
              <a:rPr sz="1500" b="0" dirty="0" err="1">
                <a:solidFill>
                  <a:srgbClr val="3F3F46"/>
                </a:solidFill>
              </a:rPr>
              <a:t>ou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mais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campanhas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aceita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em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mais</a:t>
            </a:r>
            <a:r>
              <a:rPr sz="1500" b="0" dirty="0">
                <a:solidFill>
                  <a:srgbClr val="3F3F46"/>
                </a:solidFill>
              </a:rPr>
              <a:t> de 50% dos </a:t>
            </a:r>
            <a:r>
              <a:rPr sz="1500" b="0" dirty="0" err="1">
                <a:solidFill>
                  <a:srgbClr val="3F3F46"/>
                </a:solidFill>
              </a:rPr>
              <a:t>casos</a:t>
            </a:r>
            <a:endParaRPr sz="1500" b="0" dirty="0">
              <a:solidFill>
                <a:srgbClr val="3F3F46"/>
              </a:solidFill>
            </a:endParaRPr>
          </a:p>
          <a:p>
            <a:pPr algn="just">
              <a:spcAft>
                <a:spcPts val="800"/>
              </a:spcAft>
            </a:pPr>
            <a:r>
              <a:rPr sz="1500" b="1" dirty="0">
                <a:solidFill>
                  <a:srgbClr val="3F3F46"/>
                </a:solidFill>
              </a:rPr>
              <a:t>Sem </a:t>
            </a:r>
            <a:r>
              <a:rPr sz="1500" b="1" dirty="0" err="1">
                <a:solidFill>
                  <a:srgbClr val="3F3F46"/>
                </a:solidFill>
              </a:rPr>
              <a:t>filhos</a:t>
            </a:r>
            <a:r>
              <a:rPr sz="1500" b="1" dirty="0">
                <a:solidFill>
                  <a:srgbClr val="3F3F46"/>
                </a:solidFill>
              </a:rPr>
              <a:t>:</a:t>
            </a:r>
            <a:r>
              <a:rPr sz="1500" b="0" dirty="0">
                <a:solidFill>
                  <a:srgbClr val="3F3F46"/>
                </a:solidFill>
              </a:rPr>
              <a:t> 28% contra 11%</a:t>
            </a:r>
          </a:p>
          <a:p>
            <a:pPr algn="just">
              <a:spcAft>
                <a:spcPts val="800"/>
              </a:spcAft>
            </a:pPr>
            <a:r>
              <a:rPr sz="1500" b="1" dirty="0" err="1">
                <a:solidFill>
                  <a:srgbClr val="3F3F46"/>
                </a:solidFill>
              </a:rPr>
              <a:t>Solteiros</a:t>
            </a:r>
            <a:r>
              <a:rPr sz="1500" b="1" dirty="0">
                <a:solidFill>
                  <a:srgbClr val="3F3F46"/>
                </a:solidFill>
              </a:rPr>
              <a:t>:</a:t>
            </a:r>
            <a:r>
              <a:rPr sz="1500" b="0" dirty="0">
                <a:solidFill>
                  <a:srgbClr val="3F3F46"/>
                </a:solidFill>
              </a:rPr>
              <a:t> 23% contra 11%</a:t>
            </a:r>
          </a:p>
          <a:p>
            <a:pPr algn="just">
              <a:spcAft>
                <a:spcPts val="800"/>
              </a:spcAft>
            </a:pPr>
            <a:r>
              <a:rPr sz="1500" b="1" dirty="0" err="1">
                <a:solidFill>
                  <a:srgbClr val="3F3F46"/>
                </a:solidFill>
              </a:rPr>
              <a:t>Clientes</a:t>
            </a:r>
            <a:r>
              <a:rPr sz="1500" b="1" dirty="0">
                <a:solidFill>
                  <a:srgbClr val="3F3F46"/>
                </a:solidFill>
              </a:rPr>
              <a:t> </a:t>
            </a:r>
            <a:r>
              <a:rPr sz="1500" b="1" dirty="0" err="1">
                <a:solidFill>
                  <a:srgbClr val="3F3F46"/>
                </a:solidFill>
              </a:rPr>
              <a:t>antigos</a:t>
            </a:r>
            <a:r>
              <a:rPr sz="1500" b="1" dirty="0">
                <a:solidFill>
                  <a:srgbClr val="3F3F46"/>
                </a:solidFill>
              </a:rPr>
              <a:t> e com </a:t>
            </a:r>
            <a:r>
              <a:rPr sz="1500" b="1" dirty="0" err="1">
                <a:solidFill>
                  <a:srgbClr val="3F3F46"/>
                </a:solidFill>
              </a:rPr>
              <a:t>compra</a:t>
            </a:r>
            <a:r>
              <a:rPr sz="1500" b="1" dirty="0">
                <a:solidFill>
                  <a:srgbClr val="3F3F46"/>
                </a:solidFill>
              </a:rPr>
              <a:t> </a:t>
            </a:r>
            <a:r>
              <a:rPr sz="1500" b="1" dirty="0" err="1">
                <a:solidFill>
                  <a:srgbClr val="3F3F46"/>
                </a:solidFill>
              </a:rPr>
              <a:t>recente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respondem</a:t>
            </a:r>
            <a:r>
              <a:rPr sz="1500" b="0" dirty="0">
                <a:solidFill>
                  <a:srgbClr val="3F3F46"/>
                </a:solidFill>
              </a:rPr>
              <a:t> </a:t>
            </a:r>
            <a:r>
              <a:rPr sz="1500" b="0" dirty="0" err="1">
                <a:solidFill>
                  <a:srgbClr val="3F3F46"/>
                </a:solidFill>
              </a:rPr>
              <a:t>mais</a:t>
            </a:r>
            <a:endParaRPr sz="1500" b="0" dirty="0">
              <a:solidFill>
                <a:srgbClr val="3F3F4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3F3F46"/>
                </a:solidFill>
              </a:rPr>
              <a:t>Três perfis de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71717A"/>
                </a:solidFill>
              </a:rPr>
              <a:t>Segmentação por K-Means com renda, gastos, canais, família e histórico de campanhas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1717A"/>
                </a:solidFill>
              </a:rPr>
              <a:t>Case iFood · Victor Maurício</a:t>
            </a:r>
          </a:p>
        </p:txBody>
      </p:sp>
      <p:pic>
        <p:nvPicPr>
          <p:cNvPr id="6" name="Picture 5" descr="aceite_por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846320" cy="30695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737360"/>
            <a:ext cx="6126480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600" b="1" dirty="0">
                <a:solidFill>
                  <a:srgbClr val="3F3F46"/>
                </a:solidFill>
              </a:rPr>
              <a:t>Cluster 0 · </a:t>
            </a:r>
            <a:r>
              <a:rPr sz="1600" b="1" dirty="0" err="1">
                <a:solidFill>
                  <a:srgbClr val="3F3F46"/>
                </a:solidFill>
              </a:rPr>
              <a:t>Orçamento</a:t>
            </a:r>
            <a:r>
              <a:rPr sz="1600" b="1" dirty="0">
                <a:solidFill>
                  <a:srgbClr val="3F3F46"/>
                </a:solidFill>
              </a:rPr>
              <a:t> </a:t>
            </a:r>
            <a:r>
              <a:rPr lang="pt-BR" sz="1600" b="1" dirty="0">
                <a:solidFill>
                  <a:srgbClr val="3F3F46"/>
                </a:solidFill>
              </a:rPr>
              <a:t>limitado</a:t>
            </a:r>
            <a:r>
              <a:rPr sz="1600" b="1" dirty="0">
                <a:solidFill>
                  <a:srgbClr val="3F3F46"/>
                </a:solidFill>
              </a:rPr>
              <a:t> (40%)</a:t>
            </a:r>
          </a:p>
          <a:p>
            <a:pPr algn="just">
              <a:spcAft>
                <a:spcPts val="800"/>
              </a:spcAft>
            </a:pPr>
            <a:r>
              <a:rPr sz="1600" b="0" dirty="0">
                <a:solidFill>
                  <a:srgbClr val="3F3F46"/>
                </a:solidFill>
              </a:rPr>
              <a:t>Renda </a:t>
            </a:r>
            <a:r>
              <a:rPr sz="1600" b="0" dirty="0" err="1">
                <a:solidFill>
                  <a:srgbClr val="3F3F46"/>
                </a:solidFill>
              </a:rPr>
              <a:t>baixa</a:t>
            </a:r>
            <a:r>
              <a:rPr sz="1600" b="0" dirty="0">
                <a:solidFill>
                  <a:srgbClr val="3F3F46"/>
                </a:solidFill>
              </a:rPr>
              <a:t>, </a:t>
            </a:r>
            <a:r>
              <a:rPr sz="1600" b="0" dirty="0" err="1">
                <a:solidFill>
                  <a:srgbClr val="3F3F46"/>
                </a:solidFill>
              </a:rPr>
              <a:t>filhos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pequenos</a:t>
            </a:r>
            <a:r>
              <a:rPr sz="1600" b="0" dirty="0">
                <a:solidFill>
                  <a:srgbClr val="3F3F46"/>
                </a:solidFill>
              </a:rPr>
              <a:t>, </a:t>
            </a:r>
            <a:r>
              <a:rPr sz="1600" b="0" dirty="0" err="1">
                <a:solidFill>
                  <a:srgbClr val="3F3F46"/>
                </a:solidFill>
              </a:rPr>
              <a:t>gasto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mínimo</a:t>
            </a:r>
            <a:r>
              <a:rPr sz="1600" b="0" dirty="0">
                <a:solidFill>
                  <a:srgbClr val="3F3F46"/>
                </a:solidFill>
              </a:rPr>
              <a:t>. </a:t>
            </a:r>
            <a:r>
              <a:rPr sz="1600" b="0" dirty="0" err="1">
                <a:solidFill>
                  <a:srgbClr val="3F3F46"/>
                </a:solidFill>
              </a:rPr>
              <a:t>Visitam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muito</a:t>
            </a:r>
            <a:r>
              <a:rPr sz="1600" b="0" dirty="0">
                <a:solidFill>
                  <a:srgbClr val="3F3F46"/>
                </a:solidFill>
              </a:rPr>
              <a:t> o site, </a:t>
            </a:r>
            <a:r>
              <a:rPr sz="1600" b="0" dirty="0" err="1">
                <a:solidFill>
                  <a:srgbClr val="3F3F46"/>
                </a:solidFill>
              </a:rPr>
              <a:t>compram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pouco</a:t>
            </a:r>
            <a:r>
              <a:rPr sz="1600" b="0" dirty="0">
                <a:solidFill>
                  <a:srgbClr val="3F3F46"/>
                </a:solidFill>
              </a:rPr>
              <a:t>. </a:t>
            </a:r>
            <a:r>
              <a:rPr sz="1600" b="0" dirty="0" err="1">
                <a:solidFill>
                  <a:srgbClr val="3F3F46"/>
                </a:solidFill>
              </a:rPr>
              <a:t>Aceite</a:t>
            </a:r>
            <a:r>
              <a:rPr sz="1600" b="0" dirty="0">
                <a:solidFill>
                  <a:srgbClr val="3F3F46"/>
                </a:solidFill>
              </a:rPr>
              <a:t> de 10%.</a:t>
            </a:r>
            <a:endParaRPr lang="pt-BR" sz="1600" b="0" dirty="0">
              <a:solidFill>
                <a:srgbClr val="3F3F46"/>
              </a:solidFill>
            </a:endParaRPr>
          </a:p>
          <a:p>
            <a:pPr algn="just">
              <a:spcAft>
                <a:spcPts val="800"/>
              </a:spcAft>
            </a:pPr>
            <a:endParaRPr sz="1600" b="0" dirty="0">
              <a:solidFill>
                <a:srgbClr val="3F3F46"/>
              </a:solidFill>
            </a:endParaRPr>
          </a:p>
          <a:p>
            <a:pPr algn="just">
              <a:spcAft>
                <a:spcPts val="800"/>
              </a:spcAft>
            </a:pPr>
            <a:r>
              <a:rPr sz="1600" b="1" dirty="0">
                <a:solidFill>
                  <a:srgbClr val="3F3F46"/>
                </a:solidFill>
              </a:rPr>
              <a:t>Cluster 1 · </a:t>
            </a:r>
            <a:r>
              <a:rPr sz="1600" b="1" dirty="0" err="1">
                <a:solidFill>
                  <a:srgbClr val="3F3F46"/>
                </a:solidFill>
              </a:rPr>
              <a:t>Famílias</a:t>
            </a:r>
            <a:r>
              <a:rPr sz="1600" b="1" dirty="0">
                <a:solidFill>
                  <a:srgbClr val="3F3F46"/>
                </a:solidFill>
              </a:rPr>
              <a:t> </a:t>
            </a:r>
            <a:r>
              <a:rPr sz="1600" b="1" dirty="0" err="1">
                <a:solidFill>
                  <a:srgbClr val="3F3F46"/>
                </a:solidFill>
              </a:rPr>
              <a:t>estabelecidas</a:t>
            </a:r>
            <a:r>
              <a:rPr sz="1600" b="1" dirty="0">
                <a:solidFill>
                  <a:srgbClr val="3F3F46"/>
                </a:solidFill>
              </a:rPr>
              <a:t> (34%)</a:t>
            </a:r>
          </a:p>
          <a:p>
            <a:pPr algn="just">
              <a:spcAft>
                <a:spcPts val="800"/>
              </a:spcAft>
            </a:pPr>
            <a:r>
              <a:rPr sz="1600" b="0" dirty="0">
                <a:solidFill>
                  <a:srgbClr val="3F3F46"/>
                </a:solidFill>
              </a:rPr>
              <a:t>Renda </a:t>
            </a:r>
            <a:r>
              <a:rPr sz="1600" b="0" dirty="0" err="1">
                <a:solidFill>
                  <a:srgbClr val="3F3F46"/>
                </a:solidFill>
              </a:rPr>
              <a:t>média</a:t>
            </a:r>
            <a:r>
              <a:rPr sz="1600" b="0" dirty="0">
                <a:solidFill>
                  <a:srgbClr val="3F3F46"/>
                </a:solidFill>
              </a:rPr>
              <a:t>, </a:t>
            </a:r>
            <a:r>
              <a:rPr sz="1600" b="0" dirty="0" err="1">
                <a:solidFill>
                  <a:srgbClr val="3F3F46"/>
                </a:solidFill>
              </a:rPr>
              <a:t>filhos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adolescentes</a:t>
            </a:r>
            <a:r>
              <a:rPr sz="1600" b="0" dirty="0">
                <a:solidFill>
                  <a:srgbClr val="3F3F46"/>
                </a:solidFill>
              </a:rPr>
              <a:t>, </a:t>
            </a:r>
            <a:r>
              <a:rPr sz="1600" b="0" dirty="0" err="1">
                <a:solidFill>
                  <a:srgbClr val="3F3F46"/>
                </a:solidFill>
              </a:rPr>
              <a:t>clientes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antigos</a:t>
            </a:r>
            <a:r>
              <a:rPr sz="1600" b="0" dirty="0">
                <a:solidFill>
                  <a:srgbClr val="3F3F46"/>
                </a:solidFill>
              </a:rPr>
              <a:t>. </a:t>
            </a:r>
            <a:r>
              <a:rPr sz="1600" b="0" dirty="0" err="1">
                <a:solidFill>
                  <a:srgbClr val="3F3F46"/>
                </a:solidFill>
              </a:rPr>
              <a:t>Gostam</a:t>
            </a:r>
            <a:r>
              <a:rPr sz="1600" b="0" dirty="0">
                <a:solidFill>
                  <a:srgbClr val="3F3F46"/>
                </a:solidFill>
              </a:rPr>
              <a:t> de </a:t>
            </a:r>
            <a:r>
              <a:rPr sz="1600" b="0" dirty="0" err="1">
                <a:solidFill>
                  <a:srgbClr val="3F3F46"/>
                </a:solidFill>
              </a:rPr>
              <a:t>descontos</a:t>
            </a:r>
            <a:r>
              <a:rPr sz="1600" b="0" dirty="0">
                <a:solidFill>
                  <a:srgbClr val="3F3F46"/>
                </a:solidFill>
              </a:rPr>
              <a:t>. </a:t>
            </a:r>
            <a:r>
              <a:rPr sz="1600" b="0" dirty="0" err="1">
                <a:solidFill>
                  <a:srgbClr val="3F3F46"/>
                </a:solidFill>
              </a:rPr>
              <a:t>Aceite</a:t>
            </a:r>
            <a:r>
              <a:rPr sz="1600" b="0" dirty="0">
                <a:solidFill>
                  <a:srgbClr val="3F3F46"/>
                </a:solidFill>
              </a:rPr>
              <a:t> de 12%.</a:t>
            </a:r>
            <a:endParaRPr lang="pt-BR" sz="1600" b="0" dirty="0">
              <a:solidFill>
                <a:srgbClr val="3F3F46"/>
              </a:solidFill>
            </a:endParaRPr>
          </a:p>
          <a:p>
            <a:pPr algn="just">
              <a:spcAft>
                <a:spcPts val="800"/>
              </a:spcAft>
            </a:pPr>
            <a:endParaRPr sz="1600" b="0" dirty="0">
              <a:solidFill>
                <a:srgbClr val="3F3F46"/>
              </a:solidFill>
            </a:endParaRPr>
          </a:p>
          <a:p>
            <a:pPr algn="just">
              <a:spcAft>
                <a:spcPts val="800"/>
              </a:spcAft>
            </a:pPr>
            <a:r>
              <a:rPr sz="1600" b="1" dirty="0">
                <a:solidFill>
                  <a:srgbClr val="3F3F46"/>
                </a:solidFill>
              </a:rPr>
              <a:t>Cluster 2 · Alto valor (26%)</a:t>
            </a:r>
          </a:p>
          <a:p>
            <a:pPr algn="just">
              <a:spcAft>
                <a:spcPts val="800"/>
              </a:spcAft>
            </a:pPr>
            <a:r>
              <a:rPr sz="1600" b="0" dirty="0">
                <a:solidFill>
                  <a:srgbClr val="3F3F46"/>
                </a:solidFill>
              </a:rPr>
              <a:t>Renda </a:t>
            </a:r>
            <a:r>
              <a:rPr sz="1600" b="0" dirty="0" err="1">
                <a:solidFill>
                  <a:srgbClr val="3F3F46"/>
                </a:solidFill>
              </a:rPr>
              <a:t>alta</a:t>
            </a:r>
            <a:r>
              <a:rPr sz="1600" b="0" dirty="0">
                <a:solidFill>
                  <a:srgbClr val="3F3F46"/>
                </a:solidFill>
              </a:rPr>
              <a:t>, </a:t>
            </a:r>
            <a:r>
              <a:rPr sz="1600" b="0" dirty="0" err="1">
                <a:solidFill>
                  <a:srgbClr val="3F3F46"/>
                </a:solidFill>
              </a:rPr>
              <a:t>sem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filhos</a:t>
            </a:r>
            <a:r>
              <a:rPr sz="1600" b="0" dirty="0">
                <a:solidFill>
                  <a:srgbClr val="3F3F46"/>
                </a:solidFill>
              </a:rPr>
              <a:t>, </a:t>
            </a:r>
            <a:r>
              <a:rPr sz="1600" b="0" dirty="0" err="1">
                <a:solidFill>
                  <a:srgbClr val="3F3F46"/>
                </a:solidFill>
              </a:rPr>
              <a:t>maior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gasto</a:t>
            </a:r>
            <a:r>
              <a:rPr sz="1600" b="0" dirty="0">
                <a:solidFill>
                  <a:srgbClr val="3F3F46"/>
                </a:solidFill>
              </a:rPr>
              <a:t> (</a:t>
            </a:r>
            <a:r>
              <a:rPr sz="1600" b="0" dirty="0" err="1">
                <a:solidFill>
                  <a:srgbClr val="3F3F46"/>
                </a:solidFill>
              </a:rPr>
              <a:t>vinhos</a:t>
            </a:r>
            <a:r>
              <a:rPr sz="1600" b="0" dirty="0">
                <a:solidFill>
                  <a:srgbClr val="3F3F46"/>
                </a:solidFill>
              </a:rPr>
              <a:t> e </a:t>
            </a:r>
            <a:r>
              <a:rPr sz="1600" b="0" dirty="0" err="1">
                <a:solidFill>
                  <a:srgbClr val="3F3F46"/>
                </a:solidFill>
              </a:rPr>
              <a:t>carnes</a:t>
            </a:r>
            <a:r>
              <a:rPr sz="1600" b="0" dirty="0">
                <a:solidFill>
                  <a:srgbClr val="3F3F46"/>
                </a:solidFill>
              </a:rPr>
              <a:t>), </a:t>
            </a:r>
            <a:r>
              <a:rPr sz="1600" b="0" dirty="0" err="1">
                <a:solidFill>
                  <a:srgbClr val="3F3F46"/>
                </a:solidFill>
              </a:rPr>
              <a:t>compram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pelo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catálogo</a:t>
            </a:r>
            <a:r>
              <a:rPr sz="1600" b="0" dirty="0">
                <a:solidFill>
                  <a:srgbClr val="3F3F46"/>
                </a:solidFill>
              </a:rPr>
              <a:t>. </a:t>
            </a:r>
            <a:r>
              <a:rPr sz="1600" b="0" dirty="0" err="1">
                <a:solidFill>
                  <a:srgbClr val="3F3F46"/>
                </a:solidFill>
              </a:rPr>
              <a:t>Aceite</a:t>
            </a:r>
            <a:r>
              <a:rPr sz="1600" b="0" dirty="0">
                <a:solidFill>
                  <a:srgbClr val="3F3F46"/>
                </a:solidFill>
              </a:rPr>
              <a:t> de 29% e </a:t>
            </a:r>
            <a:r>
              <a:rPr sz="1600" b="0" dirty="0" err="1">
                <a:solidFill>
                  <a:srgbClr val="3F3F46"/>
                </a:solidFill>
              </a:rPr>
              <a:t>quase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metade</a:t>
            </a:r>
            <a:r>
              <a:rPr sz="1600" b="0" dirty="0">
                <a:solidFill>
                  <a:srgbClr val="3F3F46"/>
                </a:solidFill>
              </a:rPr>
              <a:t> de </a:t>
            </a:r>
            <a:r>
              <a:rPr sz="1600" b="0" dirty="0" err="1">
                <a:solidFill>
                  <a:srgbClr val="3F3F46"/>
                </a:solidFill>
              </a:rPr>
              <a:t>todos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os</a:t>
            </a:r>
            <a:r>
              <a:rPr sz="1600" b="0" dirty="0">
                <a:solidFill>
                  <a:srgbClr val="3F3F46"/>
                </a:solidFill>
              </a:rPr>
              <a:t> </a:t>
            </a:r>
            <a:r>
              <a:rPr sz="1600" b="0" dirty="0" err="1">
                <a:solidFill>
                  <a:srgbClr val="3F3F46"/>
                </a:solidFill>
              </a:rPr>
              <a:t>aceites</a:t>
            </a:r>
            <a:r>
              <a:rPr sz="1600" b="0" dirty="0">
                <a:solidFill>
                  <a:srgbClr val="3F3F46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3F3F46"/>
                </a:solidFill>
              </a:rPr>
              <a:t>Modelo de propensão: uma nota para cada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71717A"/>
                </a:solidFill>
              </a:rPr>
              <a:t>Regressão logística validada em 405 clientes que o modelo nunca viu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1717A"/>
                </a:solidFill>
              </a:rPr>
              <a:t>Case iFood · Victor Maurício</a:t>
            </a:r>
          </a:p>
        </p:txBody>
      </p:sp>
      <p:pic>
        <p:nvPicPr>
          <p:cNvPr id="6" name="Picture 5" descr="curva_de_luc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429789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17373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F3F46"/>
                </a:solidFill>
              </a:rPr>
              <a:t>O modelo estima a chance de aceite de cada cliente.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F3F46"/>
                </a:solidFill>
              </a:rPr>
              <a:t>Regra:</a:t>
            </a:r>
            <a:r>
              <a:rPr sz="1500" b="0">
                <a:solidFill>
                  <a:srgbClr val="3F3F46"/>
                </a:solidFill>
              </a:rPr>
              <a:t> ligar só para quem tem chance acima de 27%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F3F46"/>
                </a:solidFill>
              </a:rPr>
              <a:t>Resultado no teste:</a:t>
            </a:r>
            <a:r>
              <a:rPr sz="1500" b="0">
                <a:solidFill>
                  <a:srgbClr val="3F3F46"/>
                </a:solidFill>
              </a:rPr>
              <a:t> 18% dos clientes contatados, 71% dos aceites capturados, 61% de acerto nas ligações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3F3F46"/>
                </a:solidFill>
              </a:rPr>
              <a:t>Do prejuízo ao lucro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71717A"/>
                </a:solidFill>
              </a:rPr>
              <a:t>Comparação de estratégias no conjunto de teste (405 clientes)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1717A"/>
                </a:solidFill>
              </a:rPr>
              <a:t>Case iFood · Victor Maurício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Estratégia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Ligações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Aceites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Lucro (MU)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Ligar para todos (como no piloto)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t>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t>−533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Sortear clientes ao acaso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t>−95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Ligar só para o perfil de alto 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t>+19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Modelo de propensão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+268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4805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F3F46"/>
                </a:solidFill>
              </a:rPr>
              <a:t>Para uma campanha com 2.240 clientes: </a:t>
            </a:r>
            <a:r>
              <a:rPr sz="2000" b="0">
                <a:solidFill>
                  <a:srgbClr val="3F3F46"/>
                </a:solidFill>
              </a:rPr>
              <a:t>lucro estimado de cerca de 1.480 MU (faixa provável de 1.000 a 2.000 MU), com 82% menos ligações. O piloto teve prejuízo de 3.046 MU.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3F3F46"/>
                </a:solidFill>
              </a:rPr>
              <a:t>Recomendações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1717A"/>
                </a:solidFill>
              </a:rPr>
              <a:t>Case iFood · Victor Maurício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F3F46"/>
                </a:solidFill>
              </a:rPr>
              <a:t>1. Usar o modelo para decidir quem recebe a ligação</a:t>
            </a:r>
            <a:r>
              <a:rPr sz="2000" b="0">
                <a:solidFill>
                  <a:srgbClr val="3F3F46"/>
                </a:solidFill>
              </a:rPr>
              <a:t> (cerca de 18% da base).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F3F46"/>
                </a:solidFill>
              </a:rPr>
              <a:t>2. Adaptar a oferta ao perfil:</a:t>
            </a:r>
            <a:r>
              <a:rPr sz="2000" b="0">
                <a:solidFill>
                  <a:srgbClr val="3F3F46"/>
                </a:solidFill>
              </a:rPr>
              <a:t> catálogo e ofertas premium para o alto valor; descontos para as famílias estabelecidas; e-mail, app e site para o orçamento apertado, sem ligações.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F3F46"/>
                </a:solidFill>
              </a:rPr>
              <a:t>3. Validar com um teste A/B:</a:t>
            </a:r>
            <a:r>
              <a:rPr sz="2000" b="0">
                <a:solidFill>
                  <a:srgbClr val="3F3F46"/>
                </a:solidFill>
              </a:rPr>
              <a:t> manter um grupo de controle sorteado ao acaso na próxima campanha para medir o ganho real.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F3F46"/>
                </a:solidFill>
              </a:rPr>
              <a:t>4. Monitorar e retreinar:</a:t>
            </a:r>
            <a:r>
              <a:rPr sz="2000" b="0">
                <a:solidFill>
                  <a:srgbClr val="3F3F46"/>
                </a:solidFill>
              </a:rPr>
              <a:t> o modelo assume que a próxima campanha se comporta como o piloto. Se o produto, o canal ou os preços mudarem, é preciso recalibrar.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629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Victor Mauricio Pinto Das Cha</cp:lastModifiedBy>
  <cp:revision>3</cp:revision>
  <dcterms:created xsi:type="dcterms:W3CDTF">2013-01-27T09:14:16Z</dcterms:created>
  <dcterms:modified xsi:type="dcterms:W3CDTF">2026-10-13T15:50:27Z</dcterms:modified>
  <cp:category/>
</cp:coreProperties>
</file>